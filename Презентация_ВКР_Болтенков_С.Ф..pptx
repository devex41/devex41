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74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2" r:id="rId15"/>
    <p:sldId id="273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5126" autoAdjust="0"/>
  </p:normalViewPr>
  <p:slideViewPr>
    <p:cSldViewPr snapToGrid="0">
      <p:cViewPr varScale="1">
        <p:scale>
          <a:sx n="61" d="100"/>
          <a:sy n="61" d="100"/>
        </p:scale>
        <p:origin x="792" y="5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4FEEC-9D38-4A38-8AE6-924F3CA5AA2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6909FF2-1844-41D8-9402-8ED4BDFC7800}">
      <dgm:prSet phldrT="[Текст]" custT="1"/>
      <dgm:spPr/>
      <dgm:t>
        <a:bodyPr/>
        <a:lstStyle/>
        <a:p>
          <a:pPr algn="ctr"/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=&gt;(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Контур скорости=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&gt;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(Контур момента)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)=&gt;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D1E54230-9D5B-4837-9E90-6733B3F1EA4E}" type="parTrans" cxnId="{12D40BEC-5CCD-40AE-A34D-D4C6079CFAC4}">
      <dgm:prSet/>
      <dgm:spPr/>
      <dgm:t>
        <a:bodyPr/>
        <a:lstStyle/>
        <a:p>
          <a:endParaRPr lang="ru-RU"/>
        </a:p>
      </dgm:t>
    </dgm:pt>
    <dgm:pt modelId="{62389081-F8D7-4CA8-B134-B601DFDF5F32}" type="sibTrans" cxnId="{12D40BEC-5CCD-40AE-A34D-D4C6079CFAC4}">
      <dgm:prSet/>
      <dgm:spPr/>
      <dgm:t>
        <a:bodyPr/>
        <a:lstStyle/>
        <a:p>
          <a:endParaRPr lang="ru-RU"/>
        </a:p>
      </dgm:t>
    </dgm:pt>
    <dgm:pt modelId="{B86101F0-FCC1-4FBC-ADE7-302D0FDB31BA}">
      <dgm:prSet phldrT="[Текст]" custT="1"/>
      <dgm:spPr/>
      <dgm:t>
        <a:bodyPr/>
        <a:lstStyle/>
        <a:p>
          <a:pPr algn="ctr"/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=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&gt;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(Контур момента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)=&gt;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7AB9D05C-88B0-4C19-AAD4-B846F68DE871}" type="parTrans" cxnId="{7A0AE008-8900-444A-8E0A-BA95C639D050}">
      <dgm:prSet/>
      <dgm:spPr/>
      <dgm:t>
        <a:bodyPr/>
        <a:lstStyle/>
        <a:p>
          <a:endParaRPr lang="ru-RU"/>
        </a:p>
      </dgm:t>
    </dgm:pt>
    <dgm:pt modelId="{A1A1876B-A904-4C19-B5CB-FEBFEDDF4D4F}" type="sibTrans" cxnId="{7A0AE008-8900-444A-8E0A-BA95C639D050}">
      <dgm:prSet/>
      <dgm:spPr/>
      <dgm:t>
        <a:bodyPr/>
        <a:lstStyle/>
        <a:p>
          <a:endParaRPr lang="ru-RU"/>
        </a:p>
      </dgm:t>
    </dgm:pt>
    <dgm:pt modelId="{586D02CC-B956-4A91-A2B4-6A12977C1209}">
      <dgm:prSet custT="1"/>
      <dgm:spPr/>
      <dgm:t>
        <a:bodyPr/>
        <a:lstStyle/>
        <a:p>
          <a:pPr marL="0" indent="452438">
            <a:buFont typeface="+mj-lt"/>
            <a:buAutoNum type="arabicPeriod"/>
          </a:pPr>
          <a:r>
            <a:rPr lang="ru-RU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Стартерный режим.</a:t>
          </a:r>
        </a:p>
      </dgm:t>
    </dgm:pt>
    <dgm:pt modelId="{0E8EBD2D-F048-4E9C-8160-0E804F9ACB64}" type="parTrans" cxnId="{1A79EC75-D520-4C41-95BB-F60B1B5CD08C}">
      <dgm:prSet/>
      <dgm:spPr/>
      <dgm:t>
        <a:bodyPr/>
        <a:lstStyle/>
        <a:p>
          <a:endParaRPr lang="ru-RU"/>
        </a:p>
      </dgm:t>
    </dgm:pt>
    <dgm:pt modelId="{DCABDF34-7C8F-4A73-B13F-4DAB0B9FC072}" type="sibTrans" cxnId="{1A79EC75-D520-4C41-95BB-F60B1B5CD08C}">
      <dgm:prSet/>
      <dgm:spPr/>
      <dgm:t>
        <a:bodyPr/>
        <a:lstStyle/>
        <a:p>
          <a:endParaRPr lang="ru-RU"/>
        </a:p>
      </dgm:t>
    </dgm:pt>
    <dgm:pt modelId="{903E674D-CA42-4A73-8F5E-AD7370C74CBC}">
      <dgm:prSet/>
      <dgm:spPr/>
      <dgm:t>
        <a:bodyPr/>
        <a:lstStyle/>
        <a:p>
          <a:pPr marL="171450" indent="0"/>
          <a:endParaRPr lang="ru-RU" sz="1700" dirty="0"/>
        </a:p>
      </dgm:t>
    </dgm:pt>
    <dgm:pt modelId="{B71D864B-4EA8-4E8A-B261-95B33998D48C}" type="parTrans" cxnId="{56B3BE72-251C-4ED8-9550-7AE3D6F5DA3C}">
      <dgm:prSet/>
      <dgm:spPr/>
      <dgm:t>
        <a:bodyPr/>
        <a:lstStyle/>
        <a:p>
          <a:endParaRPr lang="ru-RU"/>
        </a:p>
      </dgm:t>
    </dgm:pt>
    <dgm:pt modelId="{C9B302A2-B91F-4F17-89AC-68F91729AABD}" type="sibTrans" cxnId="{56B3BE72-251C-4ED8-9550-7AE3D6F5DA3C}">
      <dgm:prSet/>
      <dgm:spPr/>
      <dgm:t>
        <a:bodyPr/>
        <a:lstStyle/>
        <a:p>
          <a:endParaRPr lang="ru-RU"/>
        </a:p>
      </dgm:t>
    </dgm:pt>
    <dgm:pt modelId="{FC0D9D1F-1E13-4482-B4CA-150E44E106D0}">
      <dgm:prSet custT="1"/>
      <dgm:spPr/>
      <dgm:t>
        <a:bodyPr/>
        <a:lstStyle/>
        <a:p>
          <a:pPr marL="0" indent="452438">
            <a:buFont typeface="+mj-lt"/>
            <a:buAutoNum type="arabicPeriod"/>
          </a:pPr>
          <a:r>
            <a:rPr lang="ru-RU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Режим заднего хода.</a:t>
          </a:r>
        </a:p>
      </dgm:t>
    </dgm:pt>
    <dgm:pt modelId="{E39535CE-9F40-4983-B4F0-3B48C2B407BD}" type="parTrans" cxnId="{105F3200-1CFA-4471-95B8-63E5512A33F8}">
      <dgm:prSet/>
      <dgm:spPr/>
      <dgm:t>
        <a:bodyPr/>
        <a:lstStyle/>
        <a:p>
          <a:endParaRPr lang="ru-RU"/>
        </a:p>
      </dgm:t>
    </dgm:pt>
    <dgm:pt modelId="{7B72E885-1359-44B4-B323-DDB6C69F201F}" type="sibTrans" cxnId="{105F3200-1CFA-4471-95B8-63E5512A33F8}">
      <dgm:prSet/>
      <dgm:spPr/>
      <dgm:t>
        <a:bodyPr/>
        <a:lstStyle/>
        <a:p>
          <a:endParaRPr lang="ru-RU"/>
        </a:p>
      </dgm:t>
    </dgm:pt>
    <dgm:pt modelId="{80D51CCC-362D-4C49-9E89-472F28186C6B}">
      <dgm:prSet custT="1"/>
      <dgm:spPr/>
      <dgm:t>
        <a:bodyPr/>
        <a:lstStyle/>
        <a:p>
          <a:pPr marL="0" indent="452438">
            <a:buFont typeface="+mj-lt"/>
            <a:buAutoNum type="arabicPeriod"/>
          </a:pPr>
          <a:r>
            <a:rPr lang="ru-RU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Рекуперативный режим.</a:t>
          </a:r>
        </a:p>
      </dgm:t>
    </dgm:pt>
    <dgm:pt modelId="{EE4720CF-B19D-4656-A91A-6B0BDEFE91B2}" type="parTrans" cxnId="{5AA6F6E0-FBFE-457D-946B-F316D76A12B8}">
      <dgm:prSet/>
      <dgm:spPr/>
      <dgm:t>
        <a:bodyPr/>
        <a:lstStyle/>
        <a:p>
          <a:endParaRPr lang="ru-RU"/>
        </a:p>
      </dgm:t>
    </dgm:pt>
    <dgm:pt modelId="{B92F0C4C-30D2-4CAA-B01B-CE5608A5C3BB}" type="sibTrans" cxnId="{5AA6F6E0-FBFE-457D-946B-F316D76A12B8}">
      <dgm:prSet/>
      <dgm:spPr/>
      <dgm:t>
        <a:bodyPr/>
        <a:lstStyle/>
        <a:p>
          <a:endParaRPr lang="ru-RU"/>
        </a:p>
      </dgm:t>
    </dgm:pt>
    <dgm:pt modelId="{51DCBAEF-F8CF-475A-8BC7-20DF9C07E600}">
      <dgm:prSet custT="1"/>
      <dgm:spPr/>
      <dgm:t>
        <a:bodyPr/>
        <a:lstStyle/>
        <a:p>
          <a:pPr marL="0" indent="452438">
            <a:buFont typeface="+mj-lt"/>
            <a:buAutoNum type="arabicPeriod"/>
          </a:pPr>
          <a:r>
            <a:rPr lang="ru-RU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Аддитивный режим.</a:t>
          </a:r>
        </a:p>
      </dgm:t>
    </dgm:pt>
    <dgm:pt modelId="{A34FBBD6-087C-4F61-B7CC-A7CE8F1861A8}" type="parTrans" cxnId="{BF137587-906D-4AAD-ADB3-7A0283E4F39B}">
      <dgm:prSet/>
      <dgm:spPr/>
      <dgm:t>
        <a:bodyPr/>
        <a:lstStyle/>
        <a:p>
          <a:endParaRPr lang="ru-RU"/>
        </a:p>
      </dgm:t>
    </dgm:pt>
    <dgm:pt modelId="{97BDBF06-DE8A-4CDD-A9B2-8DFCC40F726F}" type="sibTrans" cxnId="{BF137587-906D-4AAD-ADB3-7A0283E4F39B}">
      <dgm:prSet/>
      <dgm:spPr/>
      <dgm:t>
        <a:bodyPr/>
        <a:lstStyle/>
        <a:p>
          <a:endParaRPr lang="ru-RU"/>
        </a:p>
      </dgm:t>
    </dgm:pt>
    <dgm:pt modelId="{37929D5E-5A80-40DC-AF69-B70DE5AB62C6}">
      <dgm:prSet custT="1"/>
      <dgm:spPr/>
      <dgm:t>
        <a:bodyPr/>
        <a:lstStyle/>
        <a:p>
          <a:pPr marL="0" indent="452438">
            <a:buFont typeface="+mj-lt"/>
            <a:buAutoNum type="arabicPeriod"/>
          </a:pPr>
          <a:r>
            <a:rPr lang="ru-RU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Генераторный режим.</a:t>
          </a:r>
        </a:p>
      </dgm:t>
    </dgm:pt>
    <dgm:pt modelId="{A397B49F-EBA1-40CB-8A0B-5CE69B2DAFE2}" type="parTrans" cxnId="{460C0BC9-BA8C-498D-8441-79C7C4D16253}">
      <dgm:prSet/>
      <dgm:spPr/>
      <dgm:t>
        <a:bodyPr/>
        <a:lstStyle/>
        <a:p>
          <a:endParaRPr lang="ru-RU"/>
        </a:p>
      </dgm:t>
    </dgm:pt>
    <dgm:pt modelId="{3EF043E5-6245-47E9-A33F-16B9E8D1C6BB}" type="sibTrans" cxnId="{460C0BC9-BA8C-498D-8441-79C7C4D16253}">
      <dgm:prSet/>
      <dgm:spPr/>
      <dgm:t>
        <a:bodyPr/>
        <a:lstStyle/>
        <a:p>
          <a:endParaRPr lang="ru-RU"/>
        </a:p>
      </dgm:t>
    </dgm:pt>
    <dgm:pt modelId="{7C898A6F-D793-4D38-A20B-4AE9B0444B04}" type="pres">
      <dgm:prSet presAssocID="{CF94FEEC-9D38-4A38-8AE6-924F3CA5AA24}" presName="linear" presStyleCnt="0">
        <dgm:presLayoutVars>
          <dgm:dir/>
          <dgm:animLvl val="lvl"/>
          <dgm:resizeHandles val="exact"/>
        </dgm:presLayoutVars>
      </dgm:prSet>
      <dgm:spPr/>
    </dgm:pt>
    <dgm:pt modelId="{3A81B965-1A53-4552-831D-C1BC06DD295B}" type="pres">
      <dgm:prSet presAssocID="{A6909FF2-1844-41D8-9402-8ED4BDFC7800}" presName="parentLin" presStyleCnt="0"/>
      <dgm:spPr/>
    </dgm:pt>
    <dgm:pt modelId="{BE0B089D-911D-4525-B889-3241CF7B8868}" type="pres">
      <dgm:prSet presAssocID="{A6909FF2-1844-41D8-9402-8ED4BDFC7800}" presName="parentLeftMargin" presStyleLbl="node1" presStyleIdx="0" presStyleCnt="2"/>
      <dgm:spPr/>
    </dgm:pt>
    <dgm:pt modelId="{D968AF22-9896-4D39-93C5-6F905017DAA9}" type="pres">
      <dgm:prSet presAssocID="{A6909FF2-1844-41D8-9402-8ED4BDFC7800}" presName="parentText" presStyleLbl="node1" presStyleIdx="0" presStyleCnt="2" custScaleX="133992" custLinFactNeighborX="-7759" custLinFactNeighborY="-1493">
        <dgm:presLayoutVars>
          <dgm:chMax val="0"/>
          <dgm:bulletEnabled val="1"/>
        </dgm:presLayoutVars>
      </dgm:prSet>
      <dgm:spPr/>
    </dgm:pt>
    <dgm:pt modelId="{40E4FE74-EB3C-4C5B-AC6F-EC534F6F100E}" type="pres">
      <dgm:prSet presAssocID="{A6909FF2-1844-41D8-9402-8ED4BDFC7800}" presName="negativeSpace" presStyleCnt="0"/>
      <dgm:spPr/>
    </dgm:pt>
    <dgm:pt modelId="{2632B649-0CAC-4F8A-B620-B9DBF699267E}" type="pres">
      <dgm:prSet presAssocID="{A6909FF2-1844-41D8-9402-8ED4BDFC7800}" presName="childText" presStyleLbl="conFgAcc1" presStyleIdx="0" presStyleCnt="2" custScaleX="97601" custScaleY="74472" custLinFactY="-1708" custLinFactNeighborX="921" custLinFactNeighborY="-100000">
        <dgm:presLayoutVars>
          <dgm:bulletEnabled val="1"/>
        </dgm:presLayoutVars>
      </dgm:prSet>
      <dgm:spPr/>
    </dgm:pt>
    <dgm:pt modelId="{A67AFF8F-9521-4601-AD5C-6FDEE012D8A4}" type="pres">
      <dgm:prSet presAssocID="{62389081-F8D7-4CA8-B134-B601DFDF5F32}" presName="spaceBetweenRectangles" presStyleCnt="0"/>
      <dgm:spPr/>
    </dgm:pt>
    <dgm:pt modelId="{144A9AC0-D980-432C-A1FA-97F655C497A9}" type="pres">
      <dgm:prSet presAssocID="{B86101F0-FCC1-4FBC-ADE7-302D0FDB31BA}" presName="parentLin" presStyleCnt="0"/>
      <dgm:spPr/>
    </dgm:pt>
    <dgm:pt modelId="{3927847E-D387-4257-A4AD-6728EA6EB65D}" type="pres">
      <dgm:prSet presAssocID="{B86101F0-FCC1-4FBC-ADE7-302D0FDB31BA}" presName="parentLeftMargin" presStyleLbl="node1" presStyleIdx="0" presStyleCnt="2"/>
      <dgm:spPr/>
    </dgm:pt>
    <dgm:pt modelId="{30553ED7-004E-4697-9ABA-A872F52DA9B9}" type="pres">
      <dgm:prSet presAssocID="{B86101F0-FCC1-4FBC-ADE7-302D0FDB31BA}" presName="parentText" presStyleLbl="node1" presStyleIdx="1" presStyleCnt="2" custScaleX="133273" custScaleY="108476">
        <dgm:presLayoutVars>
          <dgm:chMax val="0"/>
          <dgm:bulletEnabled val="1"/>
        </dgm:presLayoutVars>
      </dgm:prSet>
      <dgm:spPr/>
    </dgm:pt>
    <dgm:pt modelId="{10D1F110-E647-4E87-B9B1-8983D3123A36}" type="pres">
      <dgm:prSet presAssocID="{B86101F0-FCC1-4FBC-ADE7-302D0FDB31BA}" presName="negativeSpace" presStyleCnt="0"/>
      <dgm:spPr/>
    </dgm:pt>
    <dgm:pt modelId="{553BE618-2FAD-4AEF-B1DC-F4373B9F77ED}" type="pres">
      <dgm:prSet presAssocID="{B86101F0-FCC1-4FBC-ADE7-302D0FDB31BA}" presName="childText" presStyleLbl="conFgAcc1" presStyleIdx="1" presStyleCnt="2" custScaleY="91410">
        <dgm:presLayoutVars>
          <dgm:bulletEnabled val="1"/>
        </dgm:presLayoutVars>
      </dgm:prSet>
      <dgm:spPr/>
    </dgm:pt>
  </dgm:ptLst>
  <dgm:cxnLst>
    <dgm:cxn modelId="{105F3200-1CFA-4471-95B8-63E5512A33F8}" srcId="{A6909FF2-1844-41D8-9402-8ED4BDFC7800}" destId="{FC0D9D1F-1E13-4482-B4CA-150E44E106D0}" srcOrd="1" destOrd="0" parTransId="{E39535CE-9F40-4983-B4F0-3B48C2B407BD}" sibTransId="{7B72E885-1359-44B4-B323-DDB6C69F201F}"/>
    <dgm:cxn modelId="{39F27C08-3860-4B2F-A322-22AA4431DBFE}" type="presOf" srcId="{CF94FEEC-9D38-4A38-8AE6-924F3CA5AA24}" destId="{7C898A6F-D793-4D38-A20B-4AE9B0444B04}" srcOrd="0" destOrd="0" presId="urn:microsoft.com/office/officeart/2005/8/layout/list1"/>
    <dgm:cxn modelId="{7A0AE008-8900-444A-8E0A-BA95C639D050}" srcId="{CF94FEEC-9D38-4A38-8AE6-924F3CA5AA24}" destId="{B86101F0-FCC1-4FBC-ADE7-302D0FDB31BA}" srcOrd="1" destOrd="0" parTransId="{7AB9D05C-88B0-4C19-AAD4-B846F68DE871}" sibTransId="{A1A1876B-A904-4C19-B5CB-FEBFEDDF4D4F}"/>
    <dgm:cxn modelId="{256F7A1E-17EF-41DB-9F89-8CEBEA8BDE91}" type="presOf" srcId="{A6909FF2-1844-41D8-9402-8ED4BDFC7800}" destId="{BE0B089D-911D-4525-B889-3241CF7B8868}" srcOrd="0" destOrd="0" presId="urn:microsoft.com/office/officeart/2005/8/layout/list1"/>
    <dgm:cxn modelId="{A6CDEC5E-2F96-4979-9013-EA29ADFECD5A}" type="presOf" srcId="{A6909FF2-1844-41D8-9402-8ED4BDFC7800}" destId="{D968AF22-9896-4D39-93C5-6F905017DAA9}" srcOrd="1" destOrd="0" presId="urn:microsoft.com/office/officeart/2005/8/layout/list1"/>
    <dgm:cxn modelId="{310B7148-F9D6-419F-B4A0-ECDD4020FBC6}" type="presOf" srcId="{51DCBAEF-F8CF-475A-8BC7-20DF9C07E600}" destId="{553BE618-2FAD-4AEF-B1DC-F4373B9F77ED}" srcOrd="0" destOrd="0" presId="urn:microsoft.com/office/officeart/2005/8/layout/list1"/>
    <dgm:cxn modelId="{78A3B369-E99C-4DC1-86A2-249B35420EC7}" type="presOf" srcId="{586D02CC-B956-4A91-A2B4-6A12977C1209}" destId="{2632B649-0CAC-4F8A-B620-B9DBF699267E}" srcOrd="0" destOrd="0" presId="urn:microsoft.com/office/officeart/2005/8/layout/list1"/>
    <dgm:cxn modelId="{1688E250-2E1A-4E0C-B544-AB8AE6255796}" type="presOf" srcId="{903E674D-CA42-4A73-8F5E-AD7370C74CBC}" destId="{2632B649-0CAC-4F8A-B620-B9DBF699267E}" srcOrd="0" destOrd="3" presId="urn:microsoft.com/office/officeart/2005/8/layout/list1"/>
    <dgm:cxn modelId="{56B3BE72-251C-4ED8-9550-7AE3D6F5DA3C}" srcId="{A6909FF2-1844-41D8-9402-8ED4BDFC7800}" destId="{903E674D-CA42-4A73-8F5E-AD7370C74CBC}" srcOrd="3" destOrd="0" parTransId="{B71D864B-4EA8-4E8A-B261-95B33998D48C}" sibTransId="{C9B302A2-B91F-4F17-89AC-68F91729AABD}"/>
    <dgm:cxn modelId="{1A79EC75-D520-4C41-95BB-F60B1B5CD08C}" srcId="{A6909FF2-1844-41D8-9402-8ED4BDFC7800}" destId="{586D02CC-B956-4A91-A2B4-6A12977C1209}" srcOrd="0" destOrd="0" parTransId="{0E8EBD2D-F048-4E9C-8160-0E804F9ACB64}" sibTransId="{DCABDF34-7C8F-4A73-B13F-4DAB0B9FC072}"/>
    <dgm:cxn modelId="{F2999858-6EFD-47BC-8D13-A3E190739A5D}" type="presOf" srcId="{37929D5E-5A80-40DC-AF69-B70DE5AB62C6}" destId="{553BE618-2FAD-4AEF-B1DC-F4373B9F77ED}" srcOrd="0" destOrd="1" presId="urn:microsoft.com/office/officeart/2005/8/layout/list1"/>
    <dgm:cxn modelId="{BF137587-906D-4AAD-ADB3-7A0283E4F39B}" srcId="{B86101F0-FCC1-4FBC-ADE7-302D0FDB31BA}" destId="{51DCBAEF-F8CF-475A-8BC7-20DF9C07E600}" srcOrd="0" destOrd="0" parTransId="{A34FBBD6-087C-4F61-B7CC-A7CE8F1861A8}" sibTransId="{97BDBF06-DE8A-4CDD-A9B2-8DFCC40F726F}"/>
    <dgm:cxn modelId="{E5D277A6-FF14-495F-B991-983BD0312D4E}" type="presOf" srcId="{FC0D9D1F-1E13-4482-B4CA-150E44E106D0}" destId="{2632B649-0CAC-4F8A-B620-B9DBF699267E}" srcOrd="0" destOrd="1" presId="urn:microsoft.com/office/officeart/2005/8/layout/list1"/>
    <dgm:cxn modelId="{D69D30AA-3A19-4882-B665-B69993B3DF16}" type="presOf" srcId="{80D51CCC-362D-4C49-9E89-472F28186C6B}" destId="{2632B649-0CAC-4F8A-B620-B9DBF699267E}" srcOrd="0" destOrd="2" presId="urn:microsoft.com/office/officeart/2005/8/layout/list1"/>
    <dgm:cxn modelId="{460C0BC9-BA8C-498D-8441-79C7C4D16253}" srcId="{B86101F0-FCC1-4FBC-ADE7-302D0FDB31BA}" destId="{37929D5E-5A80-40DC-AF69-B70DE5AB62C6}" srcOrd="1" destOrd="0" parTransId="{A397B49F-EBA1-40CB-8A0B-5CE69B2DAFE2}" sibTransId="{3EF043E5-6245-47E9-A33F-16B9E8D1C6BB}"/>
    <dgm:cxn modelId="{B4E72EC9-0CEF-4EFD-831B-8BA968AAF083}" type="presOf" srcId="{B86101F0-FCC1-4FBC-ADE7-302D0FDB31BA}" destId="{30553ED7-004E-4697-9ABA-A872F52DA9B9}" srcOrd="1" destOrd="0" presId="urn:microsoft.com/office/officeart/2005/8/layout/list1"/>
    <dgm:cxn modelId="{59FED1DE-072B-4182-8957-0F0862FA5247}" type="presOf" srcId="{B86101F0-FCC1-4FBC-ADE7-302D0FDB31BA}" destId="{3927847E-D387-4257-A4AD-6728EA6EB65D}" srcOrd="0" destOrd="0" presId="urn:microsoft.com/office/officeart/2005/8/layout/list1"/>
    <dgm:cxn modelId="{5AA6F6E0-FBFE-457D-946B-F316D76A12B8}" srcId="{A6909FF2-1844-41D8-9402-8ED4BDFC7800}" destId="{80D51CCC-362D-4C49-9E89-472F28186C6B}" srcOrd="2" destOrd="0" parTransId="{EE4720CF-B19D-4656-A91A-6B0BDEFE91B2}" sibTransId="{B92F0C4C-30D2-4CAA-B01B-CE5608A5C3BB}"/>
    <dgm:cxn modelId="{12D40BEC-5CCD-40AE-A34D-D4C6079CFAC4}" srcId="{CF94FEEC-9D38-4A38-8AE6-924F3CA5AA24}" destId="{A6909FF2-1844-41D8-9402-8ED4BDFC7800}" srcOrd="0" destOrd="0" parTransId="{D1E54230-9D5B-4837-9E90-6733B3F1EA4E}" sibTransId="{62389081-F8D7-4CA8-B134-B601DFDF5F32}"/>
    <dgm:cxn modelId="{B3FC6CEB-346B-4E59-A82F-3775315F9938}" type="presParOf" srcId="{7C898A6F-D793-4D38-A20B-4AE9B0444B04}" destId="{3A81B965-1A53-4552-831D-C1BC06DD295B}" srcOrd="0" destOrd="0" presId="urn:microsoft.com/office/officeart/2005/8/layout/list1"/>
    <dgm:cxn modelId="{20725C2C-ECAB-4D5A-B3F4-81DCBF52A10E}" type="presParOf" srcId="{3A81B965-1A53-4552-831D-C1BC06DD295B}" destId="{BE0B089D-911D-4525-B889-3241CF7B8868}" srcOrd="0" destOrd="0" presId="urn:microsoft.com/office/officeart/2005/8/layout/list1"/>
    <dgm:cxn modelId="{1DB6C198-3F1D-41E5-A03C-9FB0379B9F3F}" type="presParOf" srcId="{3A81B965-1A53-4552-831D-C1BC06DD295B}" destId="{D968AF22-9896-4D39-93C5-6F905017DAA9}" srcOrd="1" destOrd="0" presId="urn:microsoft.com/office/officeart/2005/8/layout/list1"/>
    <dgm:cxn modelId="{4D1441BF-BCC9-48DD-8C56-F139876545BB}" type="presParOf" srcId="{7C898A6F-D793-4D38-A20B-4AE9B0444B04}" destId="{40E4FE74-EB3C-4C5B-AC6F-EC534F6F100E}" srcOrd="1" destOrd="0" presId="urn:microsoft.com/office/officeart/2005/8/layout/list1"/>
    <dgm:cxn modelId="{4D613650-FE58-4DB5-A8BC-010BE0682049}" type="presParOf" srcId="{7C898A6F-D793-4D38-A20B-4AE9B0444B04}" destId="{2632B649-0CAC-4F8A-B620-B9DBF699267E}" srcOrd="2" destOrd="0" presId="urn:microsoft.com/office/officeart/2005/8/layout/list1"/>
    <dgm:cxn modelId="{C6F5B53A-B7FB-4212-ABB3-F372C8703483}" type="presParOf" srcId="{7C898A6F-D793-4D38-A20B-4AE9B0444B04}" destId="{A67AFF8F-9521-4601-AD5C-6FDEE012D8A4}" srcOrd="3" destOrd="0" presId="urn:microsoft.com/office/officeart/2005/8/layout/list1"/>
    <dgm:cxn modelId="{677DD795-3321-4106-92E7-8DCC5DF969C3}" type="presParOf" srcId="{7C898A6F-D793-4D38-A20B-4AE9B0444B04}" destId="{144A9AC0-D980-432C-A1FA-97F655C497A9}" srcOrd="4" destOrd="0" presId="urn:microsoft.com/office/officeart/2005/8/layout/list1"/>
    <dgm:cxn modelId="{C9323BAB-603A-4915-BF3F-37A389AADA87}" type="presParOf" srcId="{144A9AC0-D980-432C-A1FA-97F655C497A9}" destId="{3927847E-D387-4257-A4AD-6728EA6EB65D}" srcOrd="0" destOrd="0" presId="urn:microsoft.com/office/officeart/2005/8/layout/list1"/>
    <dgm:cxn modelId="{B82C2CFA-B7B5-44F1-98C6-7411A27B4126}" type="presParOf" srcId="{144A9AC0-D980-432C-A1FA-97F655C497A9}" destId="{30553ED7-004E-4697-9ABA-A872F52DA9B9}" srcOrd="1" destOrd="0" presId="urn:microsoft.com/office/officeart/2005/8/layout/list1"/>
    <dgm:cxn modelId="{7C02EF33-A284-4036-B416-650764603779}" type="presParOf" srcId="{7C898A6F-D793-4D38-A20B-4AE9B0444B04}" destId="{10D1F110-E647-4E87-B9B1-8983D3123A36}" srcOrd="5" destOrd="0" presId="urn:microsoft.com/office/officeart/2005/8/layout/list1"/>
    <dgm:cxn modelId="{516B78DA-44DB-4E83-A590-96ABD20065A4}" type="presParOf" srcId="{7C898A6F-D793-4D38-A20B-4AE9B0444B04}" destId="{553BE618-2FAD-4AEF-B1DC-F4373B9F77E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32B649-0CAC-4F8A-B620-B9DBF699267E}">
      <dsp:nvSpPr>
        <dsp:cNvPr id="0" name=""/>
        <dsp:cNvSpPr/>
      </dsp:nvSpPr>
      <dsp:spPr>
        <a:xfrm>
          <a:off x="68835" y="170840"/>
          <a:ext cx="7294675" cy="123506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064" tIns="354076" rIns="580064" bIns="142240" numCol="1" spcCol="1270" anchor="t" anchorCtr="0">
          <a:noAutofit/>
        </a:bodyPr>
        <a:lstStyle/>
        <a:p>
          <a:pPr marL="0" lvl="1" indent="452438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Стартерный режим.</a:t>
          </a:r>
        </a:p>
        <a:p>
          <a:pPr marL="0" lvl="1" indent="452438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Режим заднего хода.</a:t>
          </a:r>
        </a:p>
        <a:p>
          <a:pPr marL="0" lvl="1" indent="452438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Рекуперативный режим.</a:t>
          </a:r>
        </a:p>
        <a:p>
          <a:pPr marL="171450" lvl="1" indent="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ru-RU" sz="1700" kern="1200" dirty="0"/>
        </a:p>
      </dsp:txBody>
      <dsp:txXfrm>
        <a:off x="68835" y="170840"/>
        <a:ext cx="7294675" cy="1235065"/>
      </dsp:txXfrm>
    </dsp:sp>
    <dsp:sp modelId="{D968AF22-9896-4D39-93C5-6F905017DAA9}">
      <dsp:nvSpPr>
        <dsp:cNvPr id="0" name=""/>
        <dsp:cNvSpPr/>
      </dsp:nvSpPr>
      <dsp:spPr>
        <a:xfrm>
          <a:off x="344703" y="32716"/>
          <a:ext cx="7010170" cy="501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7749" tIns="0" rIns="197749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=&gt;(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Контур скорости=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&gt;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(Контур момента)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)=&gt;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>
        <a:off x="369177" y="57190"/>
        <a:ext cx="6961222" cy="452401"/>
      </dsp:txXfrm>
    </dsp:sp>
    <dsp:sp modelId="{553BE618-2FAD-4AEF-B1DC-F4373B9F77ED}">
      <dsp:nvSpPr>
        <dsp:cNvPr id="0" name=""/>
        <dsp:cNvSpPr/>
      </dsp:nvSpPr>
      <dsp:spPr>
        <a:xfrm>
          <a:off x="0" y="1910821"/>
          <a:ext cx="7473976" cy="97804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064" tIns="354076" rIns="580064" bIns="142240" numCol="1" spcCol="1270" anchor="t" anchorCtr="0">
          <a:noAutofit/>
        </a:bodyPr>
        <a:lstStyle/>
        <a:p>
          <a:pPr marL="0" lvl="1" indent="452438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Аддитивный режим.</a:t>
          </a:r>
        </a:p>
        <a:p>
          <a:pPr marL="0" lvl="1" indent="452438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Генераторный режим.</a:t>
          </a:r>
        </a:p>
      </dsp:txBody>
      <dsp:txXfrm>
        <a:off x="0" y="1910821"/>
        <a:ext cx="7473976" cy="978045"/>
      </dsp:txXfrm>
    </dsp:sp>
    <dsp:sp modelId="{30553ED7-004E-4697-9ABA-A872F52DA9B9}">
      <dsp:nvSpPr>
        <dsp:cNvPr id="0" name=""/>
        <dsp:cNvSpPr/>
      </dsp:nvSpPr>
      <dsp:spPr>
        <a:xfrm>
          <a:off x="373698" y="1617652"/>
          <a:ext cx="6972554" cy="5438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7749" tIns="0" rIns="197749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=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&gt;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(Контур момента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)=&gt;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>
        <a:off x="400246" y="1644200"/>
        <a:ext cx="6919458" cy="4907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048717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02789F-1968-479D-A455-886F9EB3EE1D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1048718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1048719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720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048721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6A438-D4E1-4C87-A1A5-58F7BC2E731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9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48600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6A438-D4E1-4C87-A1A5-58F7BC2E731D}" type="slidenum">
              <a:rPr lang="ru-RU" smtClean="0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9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48600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6A438-D4E1-4C87-A1A5-58F7BC2E731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26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52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53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48654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0486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0F619-3A5A-488E-A109-CBBBB535CFF3}" type="datetime1">
              <a:rPr lang="ru-RU" smtClean="0"/>
              <a:t>17.06.2025</a:t>
            </a:fld>
            <a:endParaRPr lang="ru-RU"/>
          </a:p>
        </p:txBody>
      </p:sp>
      <p:sp>
        <p:nvSpPr>
          <p:cNvPr id="10486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9879-48EE-4942-B670-D8F027CC502A}" type="slidenum">
              <a:rPr lang="ru-RU" smtClean="0"/>
              <a:t>‹#›</a:t>
            </a:fld>
            <a:endParaRPr lang="ru-RU"/>
          </a:p>
        </p:txBody>
      </p:sp>
      <p:cxnSp>
        <p:nvCxnSpPr>
          <p:cNvPr id="3145731" name="Straight Connector 8"/>
          <p:cNvCxnSpPr>
            <a:cxnSpLocks/>
          </p:cNvCxnSpPr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486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486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C5581-6C54-4F7A-8980-17B9B8F0FA1F}" type="datetime1">
              <a:rPr lang="ru-RU" smtClean="0"/>
              <a:t>17.06.2025</a:t>
            </a:fld>
            <a:endParaRPr lang="ru-RU"/>
          </a:p>
        </p:txBody>
      </p:sp>
      <p:sp>
        <p:nvSpPr>
          <p:cNvPr id="10486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9879-48EE-4942-B670-D8F027CC50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8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89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48690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D36A2-C579-4CBF-9DCA-5DDAF10DDB41}" type="datetime1">
              <a:rPr lang="ru-RU" smtClean="0"/>
              <a:t>17.06.2025</a:t>
            </a:fld>
            <a:endParaRPr lang="ru-RU"/>
          </a:p>
        </p:txBody>
      </p:sp>
      <p:sp>
        <p:nvSpPr>
          <p:cNvPr id="10486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9879-48EE-4942-B670-D8F027CC502A}" type="slidenum">
              <a:rPr lang="ru-RU" smtClean="0"/>
              <a:t>‹#›</a:t>
            </a:fld>
            <a:endParaRPr lang="ru-RU"/>
          </a:p>
        </p:txBody>
      </p:sp>
      <p:cxnSp>
        <p:nvCxnSpPr>
          <p:cNvPr id="3145732" name="Straight Connector 8"/>
          <p:cNvCxnSpPr>
            <a:cxnSpLocks/>
          </p:cNvCxnSpPr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48695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48696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4869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FB5BC-8EE0-49D2-A200-1F03F350E3B3}" type="datetime1">
              <a:rPr lang="ru-RU" smtClean="0"/>
              <a:t>17.06.2025</a:t>
            </a:fld>
            <a:endParaRPr lang="ru-RU"/>
          </a:p>
        </p:txBody>
      </p:sp>
      <p:sp>
        <p:nvSpPr>
          <p:cNvPr id="104869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9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9879-48EE-4942-B670-D8F027CC50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48701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702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4870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704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4870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2030-02D2-4937-B07E-B6293333F5FE}" type="datetime1">
              <a:rPr lang="ru-RU" smtClean="0"/>
              <a:t>17.06.2025</a:t>
            </a:fld>
            <a:endParaRPr lang="ru-RU"/>
          </a:p>
        </p:txBody>
      </p:sp>
      <p:sp>
        <p:nvSpPr>
          <p:cNvPr id="104870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70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9879-48EE-4942-B670-D8F027CC50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4865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9FC4A-F7A1-4534-8A27-A676619F2ACC}" type="datetime1">
              <a:rPr lang="ru-RU" smtClean="0"/>
              <a:t>17.06.2025</a:t>
            </a:fld>
            <a:endParaRPr lang="ru-RU"/>
          </a:p>
        </p:txBody>
      </p:sp>
      <p:sp>
        <p:nvSpPr>
          <p:cNvPr id="104866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6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9879-48EE-4942-B670-D8F027CC50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84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8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03AA9-C7EB-4077-9F50-A16D6AECB349}" type="datetime1">
              <a:rPr lang="ru-RU" smtClean="0"/>
              <a:t>17.06.2025</a:t>
            </a:fld>
            <a:endParaRPr lang="ru-RU"/>
          </a:p>
        </p:txBody>
      </p:sp>
      <p:sp>
        <p:nvSpPr>
          <p:cNvPr id="104858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104858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9879-48EE-4942-B670-D8F027CC50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0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10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48711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48712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713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/>
          </a:lstStyle>
          <a:p>
            <a:fld id="{3D348685-86EC-4838-BC6A-4FEDD4E45DBB}" type="datetime1">
              <a:rPr lang="ru-RU" smtClean="0"/>
              <a:t>17.06.2025</a:t>
            </a:fld>
            <a:endParaRPr lang="ru-RU"/>
          </a:p>
        </p:txBody>
      </p:sp>
      <p:sp>
        <p:nvSpPr>
          <p:cNvPr id="104871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104871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629879-48EE-4942-B670-D8F027CC50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5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4867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48678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4867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EDCC2-B19A-4638-87D5-7EB01A2CEB7E}" type="datetime1">
              <a:rPr lang="ru-RU" smtClean="0"/>
              <a:t>17.06.2025</a:t>
            </a:fld>
            <a:endParaRPr lang="ru-RU"/>
          </a:p>
        </p:txBody>
      </p:sp>
      <p:sp>
        <p:nvSpPr>
          <p:cNvPr id="104868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8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9879-48EE-4942-B670-D8F027CC50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4868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486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E498-FDA5-4467-9F20-2B724C943493}" type="datetime1">
              <a:rPr lang="ru-RU" smtClean="0"/>
              <a:t>17.06.2025</a:t>
            </a:fld>
            <a:endParaRPr lang="ru-RU"/>
          </a:p>
        </p:txBody>
      </p:sp>
      <p:sp>
        <p:nvSpPr>
          <p:cNvPr id="104868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9879-48EE-4942-B670-D8F027CC50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63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6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486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486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7CCF5-68B9-43A0-9200-D649197C253B}" type="datetime1">
              <a:rPr lang="ru-RU" smtClean="0"/>
              <a:t>17.06.2025</a:t>
            </a:fld>
            <a:endParaRPr lang="ru-RU"/>
          </a:p>
        </p:txBody>
      </p:sp>
      <p:sp>
        <p:nvSpPr>
          <p:cNvPr id="10486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486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9879-48EE-4942-B670-D8F027CC502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77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78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48579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89DF25-2482-4CD3-B612-DC5CA2EABF58}" type="datetime1">
              <a:rPr lang="ru-RU" smtClean="0"/>
              <a:t>17.06.2025</a:t>
            </a:fld>
            <a:endParaRPr lang="ru-RU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A629879-48EE-4942-B670-D8F027CC502A}" type="slidenum">
              <a:rPr lang="ru-RU" smtClean="0"/>
              <a:t>‹#›</a:t>
            </a:fld>
            <a:endParaRPr lang="ru-RU"/>
          </a:p>
        </p:txBody>
      </p:sp>
      <p:cxnSp>
        <p:nvCxnSpPr>
          <p:cNvPr id="3145728" name="Straight Connector 9"/>
          <p:cNvCxnSpPr>
            <a:cxnSpLocks/>
          </p:cNvCxnSpPr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extBox 2"/>
          <p:cNvSpPr txBox="1"/>
          <p:nvPr/>
        </p:nvSpPr>
        <p:spPr>
          <a:xfrm>
            <a:off x="0" y="96982"/>
            <a:ext cx="12191999" cy="2542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</a:p>
          <a:p>
            <a:pPr algn="ctr"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«САНКТ-ПЕТЕРБУРГСКИЙ ГОСУДАРСТВЕННЫЙ УНИВЕРСИТЕТ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0"/>
              </a:spcAft>
              <a:tabLst>
                <a:tab pos="270510" algn="l"/>
              </a:tabLst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ПРОМЫШЛЕННЫХ ТЕХНОЛОГИЙ И ДИЗАЙНА»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ВЫСШАЯ ШКОЛА ТЕХНОЛОГИИ И ЭНЕРГЕТИКИ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442595" algn="ctr">
              <a:spcBef>
                <a:spcPts val="300"/>
              </a:spcBef>
              <a:spcAft>
                <a:spcPts val="0"/>
              </a:spcAft>
              <a:tabLst>
                <a:tab pos="27051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Институт энергетики и автоматизации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  <a:tabLst>
                <a:tab pos="27051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Кафедра автоматизации технологических процессов и производств</a:t>
            </a:r>
          </a:p>
          <a:p>
            <a:pPr algn="ctr">
              <a:lnSpc>
                <a:spcPct val="106000"/>
              </a:lnSpc>
              <a:spcAft>
                <a:spcPts val="0"/>
              </a:spcAft>
              <a:tabLst>
                <a:tab pos="270510" algn="l"/>
              </a:tabLst>
            </a:pP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graphicFrame>
        <p:nvGraphicFramePr>
          <p:cNvPr id="4194304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502706"/>
              </p:ext>
            </p:extLst>
          </p:nvPr>
        </p:nvGraphicFramePr>
        <p:xfrm>
          <a:off x="6578601" y="4295972"/>
          <a:ext cx="5505194" cy="1212979"/>
        </p:xfrm>
        <a:graphic>
          <a:graphicData uri="http://schemas.openxmlformats.org/drawingml/2006/table">
            <a:tbl>
              <a:tblPr firstRow="1" firstCol="1" bandRow="1"/>
              <a:tblGrid>
                <a:gridCol w="1600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6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Выполнил: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Болтенков С.Ф.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(фамилия, имя, отчество)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Руководитель: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к.т.н., доцент, доцент каф. АТПиП Шаряков В.А.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                       (должность, фамилия, имя, отчество)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48590" name="Rectangle 2"/>
          <p:cNvSpPr>
            <a:spLocks noChangeArrowheads="1"/>
          </p:cNvSpPr>
          <p:nvPr/>
        </p:nvSpPr>
        <p:spPr bwMode="auto">
          <a:xfrm flipH="1">
            <a:off x="1902616" y="2159954"/>
            <a:ext cx="8386763" cy="163121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9875" algn="l"/>
              </a:tabLst>
            </a:pP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ВЫПУСКНАЯ</a:t>
            </a:r>
            <a:r>
              <a:rPr kumimoji="0" lang="ru-RU" altLang="ru-RU" sz="22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КВАЛИФИКАЦИОННАЯ РАБОТА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9875" algn="l"/>
              </a:tabLst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9875" algn="l"/>
              </a:tabLs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тему: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9875" algn="l"/>
              </a:tabLst>
            </a:pP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9875" algn="l"/>
              </a:tabLst>
            </a:pPr>
            <a:endParaRPr lang="ru-RU" alt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9875" algn="l"/>
              </a:tabLst>
            </a:pP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9875" algn="l"/>
              </a:tabLst>
            </a:pP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1" name="Прямоугольник 9"/>
          <p:cNvSpPr/>
          <p:nvPr/>
        </p:nvSpPr>
        <p:spPr>
          <a:xfrm>
            <a:off x="3047997" y="5228880"/>
            <a:ext cx="6096000" cy="11537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Санкт-Петербург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2025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145729" name="Прямая соединительная линия 11"/>
          <p:cNvCxnSpPr>
            <a:cxnSpLocks/>
          </p:cNvCxnSpPr>
          <p:nvPr/>
        </p:nvCxnSpPr>
        <p:spPr>
          <a:xfrm flipV="1">
            <a:off x="1994056" y="1149531"/>
            <a:ext cx="8295323" cy="391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97152" name="Рисунок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89474" y="164521"/>
            <a:ext cx="1500647" cy="1863256"/>
          </a:xfrm>
          <a:prstGeom prst="rect">
            <a:avLst/>
          </a:prstGeom>
        </p:spPr>
      </p:pic>
      <p:pic>
        <p:nvPicPr>
          <p:cNvPr id="2097153" name="Рисунок 3"/>
          <p:cNvPicPr>
            <a:picLocks noChangeAspect="1"/>
          </p:cNvPicPr>
          <p:nvPr/>
        </p:nvPicPr>
        <p:blipFill rotWithShape="1">
          <a:blip r:embed="rId3"/>
          <a:srcRect l="6384" t="3231" r="6494" b="1"/>
          <a:stretch>
            <a:fillRect/>
          </a:stretch>
        </p:blipFill>
        <p:spPr>
          <a:xfrm>
            <a:off x="149625" y="96982"/>
            <a:ext cx="1844431" cy="19200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AB6E83-92AC-1D6E-4EB9-7B6EB8FACAA2}"/>
              </a:ext>
            </a:extLst>
          </p:cNvPr>
          <p:cNvSpPr txBox="1"/>
          <p:nvPr/>
        </p:nvSpPr>
        <p:spPr>
          <a:xfrm>
            <a:off x="1569718" y="3104052"/>
            <a:ext cx="91439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автономной технологической тележки с разработкой САУ гибридной силовой установкой</a:t>
            </a:r>
            <a:endParaRPr lang="ru-RU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61609" y="6428377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20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593" name="TextBox 3"/>
          <p:cNvSpPr txBox="1"/>
          <p:nvPr/>
        </p:nvSpPr>
        <p:spPr>
          <a:xfrm>
            <a:off x="0" y="110218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выпускной квалификационной работы</a:t>
            </a:r>
          </a:p>
        </p:txBody>
      </p:sp>
      <p:sp>
        <p:nvSpPr>
          <p:cNvPr id="1048594" name="Прямоугольник 8"/>
          <p:cNvSpPr/>
          <p:nvPr/>
        </p:nvSpPr>
        <p:spPr>
          <a:xfrm>
            <a:off x="544509" y="1038787"/>
            <a:ext cx="11102982" cy="2910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2438" algn="just">
              <a:lnSpc>
                <a:spcPct val="150000"/>
              </a:lnSpc>
            </a:pP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работы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снижение вредного влияния выхлопных газов автономной технологической тележки на рабочий персонал в закрытых промышленных помещениях и повышение её энергетической эффективности.</a:t>
            </a:r>
          </a:p>
          <a:p>
            <a:pPr algn="just">
              <a:lnSpc>
                <a:spcPct val="150000"/>
              </a:lnSpc>
            </a:pP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5" name="Прямоугольник 5"/>
          <p:cNvSpPr/>
          <p:nvPr/>
        </p:nvSpPr>
        <p:spPr>
          <a:xfrm>
            <a:off x="544509" y="2415776"/>
            <a:ext cx="11102982" cy="4264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2438"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адачи: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452438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Проанализировать автономную технологическую тележку с точки зрения автоматизации, описать объект управления и классифицировать гибридные технологии.</a:t>
            </a:r>
          </a:p>
          <a:p>
            <a:pPr lvl="0" indent="452438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Сформировать требования к САУ гибридной силовой установкой (ГСУ), выбрать способ управления параметром и в соответствии с этим разработать систему.</a:t>
            </a:r>
          </a:p>
          <a:p>
            <a:pPr lvl="0" indent="452438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Произвести расчёты основных рабочих режимов гибридной силовой установки и осуществить выбор необходимого оборудования.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2438">
              <a:buFont typeface="+mj-lt"/>
              <a:buAutoNum type="arabicPeriod"/>
            </a:pPr>
            <a:r>
              <a:rPr lang="ru-RU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Синтезировать регуляторы и определить качество работы системы с помощью имитационного моделирования.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71769" y="6429600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20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597" name="TextBox 3"/>
          <p:cNvSpPr txBox="1"/>
          <p:nvPr/>
        </p:nvSpPr>
        <p:spPr>
          <a:xfrm>
            <a:off x="0" y="110218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Кинематическая схема АТТ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 descr="Изображение выглядит как текст, диаграмма, снимок экрана, Шрифт&#10;&#10;AI-generated content may be incorrect.">
            <a:extLst>
              <a:ext uri="{FF2B5EF4-FFF2-40B4-BE49-F238E27FC236}">
                <a16:creationId xmlns:a16="http://schemas.microsoft.com/office/drawing/2014/main" id="{391470B1-68FF-33AB-4E3F-934878ED33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513" y="1003180"/>
            <a:ext cx="6408973" cy="236028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665BC8-4721-8AF7-7D10-F7C80D6572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627" t="38322" r="33582" b="36701"/>
          <a:stretch/>
        </p:blipFill>
        <p:spPr bwMode="auto">
          <a:xfrm>
            <a:off x="5446330" y="3806654"/>
            <a:ext cx="6461891" cy="21216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0B71BD-51BB-A89B-AF31-A0583F04A6F2}"/>
              </a:ext>
            </a:extLst>
          </p:cNvPr>
          <p:cNvSpPr txBox="1"/>
          <p:nvPr/>
        </p:nvSpPr>
        <p:spPr>
          <a:xfrm>
            <a:off x="778933" y="4474438"/>
            <a:ext cx="42251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Схема гибридной трансмиссии параллельного типа</a:t>
            </a:r>
            <a:r>
              <a:rPr lang="en-US" sz="2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400" u="sng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71769" y="6429600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20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597" name="TextBox 3"/>
          <p:cNvSpPr txBox="1"/>
          <p:nvPr/>
        </p:nvSpPr>
        <p:spPr>
          <a:xfrm>
            <a:off x="0" y="105918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Основные требования к САУ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6DF66172-0916-5613-B0E5-6737346CEA21}"/>
              </a:ext>
            </a:extLst>
          </p:cNvPr>
          <p:cNvSpPr txBox="1"/>
          <p:nvPr/>
        </p:nvSpPr>
        <p:spPr>
          <a:xfrm>
            <a:off x="-178046" y="1718776"/>
            <a:ext cx="5370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функциям системы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Изображение выглядит как текст, снимок экрана, Шрифт, линия&#10;&#10;AI-generated content may be incorrect.">
            <a:extLst>
              <a:ext uri="{FF2B5EF4-FFF2-40B4-BE49-F238E27FC236}">
                <a16:creationId xmlns:a16="http://schemas.microsoft.com/office/drawing/2014/main" id="{AAB54DD7-5948-6C0A-92B0-24B5050F9B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990" y="1620051"/>
            <a:ext cx="6845698" cy="23767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4ED750-A05B-6522-9848-69B2B912FAA9}"/>
              </a:ext>
            </a:extLst>
          </p:cNvPr>
          <p:cNvSpPr txBox="1"/>
          <p:nvPr/>
        </p:nvSpPr>
        <p:spPr>
          <a:xfrm>
            <a:off x="302628" y="4359717"/>
            <a:ext cx="60051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качеству управления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438150" algn="just">
              <a:lnSpc>
                <a:spcPct val="150000"/>
              </a:lnSpc>
              <a:buAutoNum type="arabicParenR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перерегулирование менее 5%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438150" algn="just">
              <a:lnSpc>
                <a:spcPct val="150000"/>
              </a:lnSpc>
              <a:buAutoNum type="arabicParenR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татическая ошибка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менее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5%.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ru-R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44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71769" y="6429600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20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602" name="TextBox 3"/>
          <p:cNvSpPr txBox="1"/>
          <p:nvPr/>
        </p:nvSpPr>
        <p:spPr>
          <a:xfrm>
            <a:off x="457199" y="110218"/>
            <a:ext cx="1131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Параметрический ограничитель момента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 descr="Изображение выглядит как текст, линия, снимок экрана, График&#10;&#10;AI-generated content may be incorrect.">
            <a:extLst>
              <a:ext uri="{FF2B5EF4-FFF2-40B4-BE49-F238E27FC236}">
                <a16:creationId xmlns:a16="http://schemas.microsoft.com/office/drawing/2014/main" id="{D65C8D33-22AA-A23F-FEF4-0C9E42914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92" b="7784"/>
          <a:stretch/>
        </p:blipFill>
        <p:spPr>
          <a:xfrm>
            <a:off x="1694152" y="883178"/>
            <a:ext cx="8845259" cy="535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71769" y="6429600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20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604" name="TextBox 3"/>
          <p:cNvSpPr txBox="1"/>
          <p:nvPr/>
        </p:nvSpPr>
        <p:spPr>
          <a:xfrm>
            <a:off x="457199" y="110218"/>
            <a:ext cx="1131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Структурная схема САУ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Изображение выглядит как текст, диаграмма, План, схематичный&#10;&#10;AI-generated content may be incorrect.">
            <a:extLst>
              <a:ext uri="{FF2B5EF4-FFF2-40B4-BE49-F238E27FC236}">
                <a16:creationId xmlns:a16="http://schemas.microsoft.com/office/drawing/2014/main" id="{61377371-186F-3A1D-B5F6-9368B3F766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68"/>
          <a:stretch/>
        </p:blipFill>
        <p:spPr>
          <a:xfrm>
            <a:off x="0" y="1074508"/>
            <a:ext cx="8715740" cy="47089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B7AF78-8141-34A8-4072-7C30CEBB8337}"/>
              </a:ext>
            </a:extLst>
          </p:cNvPr>
          <p:cNvSpPr txBox="1"/>
          <p:nvPr/>
        </p:nvSpPr>
        <p:spPr>
          <a:xfrm>
            <a:off x="8644862" y="869251"/>
            <a:ext cx="354713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ДПДЗ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датчик положения дроссельной заслонки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кнопка включения рекуперации/стартера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кнопка включения заднего хода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ДТА, ДТД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датчики температуры АКБ и ЭД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датчик напряжения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задающее устройство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ограничитель момента</a:t>
            </a:r>
          </a:p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регулятор тока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датчик тока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ДПР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датчик положения ротора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71769" y="6429600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20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609" name="TextBox 3"/>
          <p:cNvSpPr txBox="1"/>
          <p:nvPr/>
        </p:nvSpPr>
        <p:spPr>
          <a:xfrm>
            <a:off x="457200" y="150944"/>
            <a:ext cx="1131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Структурная схема контура управления моментом ЭД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AI-generated content may be incorrect.">
            <a:extLst>
              <a:ext uri="{FF2B5EF4-FFF2-40B4-BE49-F238E27FC236}">
                <a16:creationId xmlns:a16="http://schemas.microsoft.com/office/drawing/2014/main" id="{6A84BB35-93B9-303B-F9A6-CF0902F2C4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8" t="26417" r="19138" b="5765"/>
          <a:stretch/>
        </p:blipFill>
        <p:spPr bwMode="auto">
          <a:xfrm>
            <a:off x="2029063" y="937577"/>
            <a:ext cx="8175438" cy="52462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71769" y="6429600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20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612" name="TextBox 3"/>
          <p:cNvSpPr txBox="1"/>
          <p:nvPr/>
        </p:nvSpPr>
        <p:spPr>
          <a:xfrm>
            <a:off x="290945" y="110218"/>
            <a:ext cx="11610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Структурная схема задающего устройства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Изображение выглядит как текст, диаграмма, Шрифт, План&#10;&#10;AI-generated content may be incorrect.">
            <a:extLst>
              <a:ext uri="{FF2B5EF4-FFF2-40B4-BE49-F238E27FC236}">
                <a16:creationId xmlns:a16="http://schemas.microsoft.com/office/drawing/2014/main" id="{A15EC50B-A036-5E9E-9084-9392C42DF2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3" t="6488" r="10439" b="3324"/>
          <a:stretch/>
        </p:blipFill>
        <p:spPr bwMode="auto">
          <a:xfrm>
            <a:off x="290945" y="751600"/>
            <a:ext cx="8187440" cy="55598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E33041-7DA7-FB6D-2B6F-A6DA23AF3773}"/>
              </a:ext>
            </a:extLst>
          </p:cNvPr>
          <p:cNvSpPr txBox="1"/>
          <p:nvPr/>
        </p:nvSpPr>
        <p:spPr>
          <a:xfrm>
            <a:off x="8536656" y="4246747"/>
            <a:ext cx="36553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усилитель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цепь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программный фильтр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блок масштабирования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программный переключатель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71769" y="6429600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18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619" name="TextBox 3"/>
          <p:cNvSpPr txBox="1"/>
          <p:nvPr/>
        </p:nvSpPr>
        <p:spPr>
          <a:xfrm>
            <a:off x="436418" y="110218"/>
            <a:ext cx="11319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Техническая структура контроллера ГСУ </a:t>
            </a:r>
            <a:b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601553B-0DA0-B236-D411-77410DBDBB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681" y="854017"/>
            <a:ext cx="10198100" cy="53651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71769" y="6429600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20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633" name="TextBox 3"/>
          <p:cNvSpPr txBox="1"/>
          <p:nvPr/>
        </p:nvSpPr>
        <p:spPr>
          <a:xfrm>
            <a:off x="440288" y="110218"/>
            <a:ext cx="11319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Расчет САУ </a:t>
            </a:r>
            <a:b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674449-7B04-7912-0231-F2C2239FFE77}"/>
                  </a:ext>
                </a:extLst>
              </p:cNvPr>
              <p:cNvSpPr txBox="1"/>
              <p:nvPr/>
            </p:nvSpPr>
            <p:spPr>
              <a:xfrm>
                <a:off x="3890669" y="1190052"/>
                <a:ext cx="3886202" cy="663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ru-RU" sz="2400" i="0">
                            <a:latin typeface="Cambria Math" panose="02040503050406030204" pitchFamily="18" charset="0"/>
                          </a:rPr>
                          <m:t>П</m:t>
                        </m:r>
                      </m:sub>
                    </m:sSub>
                    <m:r>
                      <a:rPr lang="ru-RU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ru-RU" sz="2400" i="0">
                            <a:latin typeface="Cambria Math" panose="02040503050406030204" pitchFamily="18" charset="0"/>
                          </a:rPr>
                          <m:t>2∗</m:t>
                        </m:r>
                        <m:sSub>
                          <m:sSubPr>
                            <m:ctrlPr>
                              <a:rPr lang="ru-RU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u-RU" sz="2400" i="0">
                                <a:latin typeface="Cambria Math" panose="02040503050406030204" pitchFamily="18" charset="0"/>
                              </a:rPr>
                              <m:t>ШИМ</m:t>
                            </m:r>
                          </m:sub>
                        </m:sSub>
                        <m:r>
                          <a:rPr lang="ru-RU" sz="2400" i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ru-RU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𝐷𝐶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0,0209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674449-7B04-7912-0231-F2C2239FF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669" y="1190052"/>
                <a:ext cx="3886202" cy="6630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8C6395-6A92-6874-4D35-10BDD73FA8A6}"/>
                  </a:ext>
                </a:extLst>
              </p:cNvPr>
              <p:cNvSpPr txBox="1"/>
              <p:nvPr/>
            </p:nvSpPr>
            <p:spPr>
              <a:xfrm>
                <a:off x="7873250" y="1026995"/>
                <a:ext cx="3886202" cy="846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И</m:t>
                          </m:r>
                        </m:sub>
                      </m:sSub>
                      <m:r>
                        <a:rPr lang="ru-R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2∗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ШИМ</m:t>
                              </m:r>
                            </m:sub>
                          </m:sSub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𝐷𝐶</m:t>
                              </m:r>
                            </m:sub>
                          </m:sSub>
                        </m:den>
                      </m:f>
                      <m:r>
                        <a:rPr lang="ru-RU" sz="24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=4,05</m:t>
                      </m:r>
                    </m:oMath>
                  </m:oMathPara>
                </a14:m>
                <a:endParaRPr lang="ru-RU" sz="24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8C6395-6A92-6874-4D35-10BDD73FA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3250" y="1026995"/>
                <a:ext cx="3886202" cy="8465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82B73FD-EB2F-1C73-90C5-865A71929155}"/>
              </a:ext>
            </a:extLst>
          </p:cNvPr>
          <p:cNvSpPr txBox="1"/>
          <p:nvPr/>
        </p:nvSpPr>
        <p:spPr>
          <a:xfrm>
            <a:off x="862852" y="1290721"/>
            <a:ext cx="2957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ПИ-регуляторы тока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A8F488-956B-D03E-57F0-8DD2BF3AF952}"/>
                  </a:ext>
                </a:extLst>
              </p:cNvPr>
              <p:cNvSpPr txBox="1"/>
              <p:nvPr/>
            </p:nvSpPr>
            <p:spPr>
              <a:xfrm>
                <a:off x="4312944" y="5293907"/>
                <a:ext cx="3041651" cy="696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u-RU" sz="2400" i="0">
                                <a:latin typeface="Cambria Math" panose="02040503050406030204" pitchFamily="18" charset="0"/>
                              </a:rPr>
                              <m:t>О</m:t>
                            </m:r>
                          </m:sub>
                        </m:sSub>
                      </m:num>
                      <m:den>
                        <m:r>
                          <a:rPr lang="ru-RU" sz="2400" i="0">
                            <a:latin typeface="Cambria Math" panose="02040503050406030204" pitchFamily="18" charset="0"/>
                          </a:rPr>
                          <m:t>2∗</m:t>
                        </m:r>
                        <m:sSub>
                          <m:sSubPr>
                            <m:ctrlPr>
                              <a:rPr lang="ru-RU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b>
                        </m:sSub>
                        <m:r>
                          <a:rPr lang="ru-RU" sz="2400" i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ru-RU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b>
                        </m:sSub>
                        <m:r>
                          <a:rPr lang="ru-RU" sz="2400" i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ru-RU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=0,711</a:t>
                </a:r>
                <a:endParaRPr lang="ru-RU" sz="24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A8F488-956B-D03E-57F0-8DD2BF3AF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944" y="5293907"/>
                <a:ext cx="3041651" cy="696729"/>
              </a:xfrm>
              <a:prstGeom prst="rect">
                <a:avLst/>
              </a:prstGeom>
              <a:blipFill>
                <a:blip r:embed="rId4"/>
                <a:stretch>
                  <a:fillRect r="-30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DF66172-0916-5613-B0E5-6737346CEA21}"/>
              </a:ext>
            </a:extLst>
          </p:cNvPr>
          <p:cNvSpPr txBox="1"/>
          <p:nvPr/>
        </p:nvSpPr>
        <p:spPr>
          <a:xfrm>
            <a:off x="862852" y="5411440"/>
            <a:ext cx="313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П-регулятор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скорости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85E3360-7FF1-12E8-4D7E-546A8D07011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627" t="38198" r="8275" b="19232"/>
          <a:stretch/>
        </p:blipFill>
        <p:spPr bwMode="auto">
          <a:xfrm>
            <a:off x="3890669" y="2631267"/>
            <a:ext cx="8091486" cy="22769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4F880A-D2EF-394F-E16D-9165A7AED05A}"/>
              </a:ext>
            </a:extLst>
          </p:cNvPr>
          <p:cNvSpPr txBox="1"/>
          <p:nvPr/>
        </p:nvSpPr>
        <p:spPr>
          <a:xfrm>
            <a:off x="777764" y="2598003"/>
            <a:ext cx="30423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Аппроксимированная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для синтеза</a:t>
            </a:r>
          </a:p>
          <a:p>
            <a:pPr algn="ctr"/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регулятора скорости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71769" y="6429600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20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635" name="TextBox 3"/>
          <p:cNvSpPr txBox="1"/>
          <p:nvPr/>
        </p:nvSpPr>
        <p:spPr>
          <a:xfrm>
            <a:off x="463089" y="110218"/>
            <a:ext cx="1131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Имитационная модель САУ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7" name="Прямоугольник 2"/>
          <p:cNvSpPr/>
          <p:nvPr/>
        </p:nvSpPr>
        <p:spPr>
          <a:xfrm>
            <a:off x="7910513" y="871538"/>
            <a:ext cx="111918" cy="128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3C67DA-BAAD-BDE8-9C6A-374FB00865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29" t="28882" r="8148" b="14702"/>
          <a:stretch/>
        </p:blipFill>
        <p:spPr bwMode="auto">
          <a:xfrm>
            <a:off x="1301058" y="559594"/>
            <a:ext cx="9699497" cy="38658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70033A-8D2A-8673-994D-99782E7B2E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535" t="29407" r="20841" b="13184"/>
          <a:stretch/>
        </p:blipFill>
        <p:spPr bwMode="auto">
          <a:xfrm>
            <a:off x="2226999" y="4585957"/>
            <a:ext cx="2574414" cy="16753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D925EF-1E9C-92CD-3E83-7AEA70ECED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880" t="30947" r="31788" b="27467"/>
          <a:stretch/>
        </p:blipFill>
        <p:spPr bwMode="auto">
          <a:xfrm>
            <a:off x="4801413" y="4548899"/>
            <a:ext cx="3765243" cy="17495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B84450-19AA-D7AC-E559-5AC8E63DA1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017" t="45055" r="29579" b="18196"/>
          <a:stretch/>
        </p:blipFill>
        <p:spPr bwMode="auto">
          <a:xfrm>
            <a:off x="8566656" y="4548898"/>
            <a:ext cx="3517138" cy="17142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797530-4A42-28F9-A9C0-3950B3A40236}"/>
              </a:ext>
            </a:extLst>
          </p:cNvPr>
          <p:cNvSpPr txBox="1"/>
          <p:nvPr/>
        </p:nvSpPr>
        <p:spPr>
          <a:xfrm>
            <a:off x="217821" y="5175173"/>
            <a:ext cx="2009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Подсистемы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4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AB5941F-1873-04A9-4B11-1F1903C1C598}"/>
              </a:ext>
            </a:extLst>
          </p:cNvPr>
          <p:cNvSpPr/>
          <p:nvPr/>
        </p:nvSpPr>
        <p:spPr>
          <a:xfrm>
            <a:off x="217821" y="4548899"/>
            <a:ext cx="11865973" cy="171421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71769" y="6429600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20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639" name="TextBox 3"/>
          <p:cNvSpPr txBox="1"/>
          <p:nvPr/>
        </p:nvSpPr>
        <p:spPr>
          <a:xfrm>
            <a:off x="459895" y="110218"/>
            <a:ext cx="11319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качества управления САУ </a:t>
            </a:r>
            <a:b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 descr="Изображение выглядит как текст, снимок экрана, линия, График&#10;&#10;AI-generated content may be incorrect.">
            <a:extLst>
              <a:ext uri="{FF2B5EF4-FFF2-40B4-BE49-F238E27FC236}">
                <a16:creationId xmlns:a16="http://schemas.microsoft.com/office/drawing/2014/main" id="{A7D2B41B-87F4-FCB6-3102-34A52005F2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3" y="1584604"/>
            <a:ext cx="7774618" cy="36887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72C9AA-11D4-CC08-D7B5-E266F91AFF1D}"/>
              </a:ext>
            </a:extLst>
          </p:cNvPr>
          <p:cNvSpPr txBox="1"/>
          <p:nvPr/>
        </p:nvSpPr>
        <p:spPr>
          <a:xfrm>
            <a:off x="7701660" y="2025504"/>
            <a:ext cx="4490340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0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Временные показатели качества</a:t>
            </a:r>
            <a:r>
              <a:rPr lang="en-US" sz="20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000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время ПП 13,9 мс;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амплитуда автоколебаний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0,026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Нм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среднее значение момента 1,011 Нм;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статическая ошибка 1,1 %;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перерегулирование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0 %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59066C-C047-1783-7B9D-E2934C49E2F3}"/>
              </a:ext>
            </a:extLst>
          </p:cNvPr>
          <p:cNvSpPr txBox="1"/>
          <p:nvPr/>
        </p:nvSpPr>
        <p:spPr>
          <a:xfrm>
            <a:off x="8766620" y="1625394"/>
            <a:ext cx="19443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1 Нм </a:t>
            </a:r>
            <a:endParaRPr lang="ru-RU" sz="2000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85A1B-E74A-67EE-CB63-4DD7BEDFBA58}"/>
              </a:ext>
            </a:extLst>
          </p:cNvPr>
          <p:cNvSpPr txBox="1"/>
          <p:nvPr/>
        </p:nvSpPr>
        <p:spPr>
          <a:xfrm>
            <a:off x="7711069" y="4920049"/>
            <a:ext cx="6121400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0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Требования по качеству</a:t>
            </a:r>
            <a:r>
              <a:rPr lang="en-US" sz="20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457200" lvl="0" indent="-457200" algn="just">
              <a:lnSpc>
                <a:spcPct val="150000"/>
              </a:lnSpc>
              <a:buAutoNum type="arabicParenR"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перерегулирование менее 5%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AutoNum type="arabicParenR"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татическая ошибка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менее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5%.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71769" y="6429600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20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641" name="TextBox 3"/>
          <p:cNvSpPr txBox="1"/>
          <p:nvPr/>
        </p:nvSpPr>
        <p:spPr>
          <a:xfrm>
            <a:off x="440288" y="110218"/>
            <a:ext cx="113191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качества управления САУ </a:t>
            </a:r>
            <a:b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 descr="Изображение выглядит как текст, снимок экрана, линия, График&#10;&#10;AI-generated content may be incorrect.">
            <a:extLst>
              <a:ext uri="{FF2B5EF4-FFF2-40B4-BE49-F238E27FC236}">
                <a16:creationId xmlns:a16="http://schemas.microsoft.com/office/drawing/2014/main" id="{47755BFC-57D0-AC17-7053-2735D4122D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40" y="1654735"/>
            <a:ext cx="7479258" cy="3548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8BE0DD-3B06-6E8C-AA8A-E71F868F29E9}"/>
              </a:ext>
            </a:extLst>
          </p:cNvPr>
          <p:cNvSpPr txBox="1"/>
          <p:nvPr/>
        </p:nvSpPr>
        <p:spPr>
          <a:xfrm>
            <a:off x="7493877" y="2022525"/>
            <a:ext cx="6096000" cy="281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0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Временные показатели качества</a:t>
            </a:r>
            <a:r>
              <a:rPr lang="en-US" sz="20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000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время ПП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0,18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амплитуда автоколебаний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~0;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установившаяся скорость 156,94 рад/с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статическая ошибка 0,03</a:t>
            </a:r>
            <a:r>
              <a:rPr lang="ru-RU" sz="2000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≈0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%;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перерегулирование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0 %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BF1500-47DB-2C2F-40E1-7DC5F61CD6FD}"/>
              </a:ext>
            </a:extLst>
          </p:cNvPr>
          <p:cNvSpPr txBox="1"/>
          <p:nvPr/>
        </p:nvSpPr>
        <p:spPr>
          <a:xfrm>
            <a:off x="8528988" y="1682447"/>
            <a:ext cx="25067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157 рад/с</a:t>
            </a:r>
            <a:endParaRPr lang="ru-RU" sz="2000" u="sng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683BA816-A23F-9051-9A5D-1B74962B92E7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216150" y="3429000"/>
            <a:ext cx="1385787" cy="580320"/>
          </a:xfrm>
          <a:prstGeom prst="straightConnector1">
            <a:avLst/>
          </a:prstGeom>
          <a:ln w="25400">
            <a:headEnd type="none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EFEAB35-C5D4-E717-98D0-D09F2DCBA26E}"/>
              </a:ext>
            </a:extLst>
          </p:cNvPr>
          <p:cNvSpPr txBox="1"/>
          <p:nvPr/>
        </p:nvSpPr>
        <p:spPr>
          <a:xfrm>
            <a:off x="3601937" y="3655377"/>
            <a:ext cx="33493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Ограничение максимального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тока электродвигателя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9D5E4-DA7A-FFD7-4740-01F809614762}"/>
              </a:ext>
            </a:extLst>
          </p:cNvPr>
          <p:cNvSpPr txBox="1"/>
          <p:nvPr/>
        </p:nvSpPr>
        <p:spPr>
          <a:xfrm>
            <a:off x="7541588" y="4921541"/>
            <a:ext cx="6121400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0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Требования по качеству</a:t>
            </a:r>
            <a:r>
              <a:rPr lang="en-US" sz="20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457200" lvl="0" indent="-457200" algn="just">
              <a:lnSpc>
                <a:spcPct val="150000"/>
              </a:lnSpc>
              <a:buAutoNum type="arabicParenR"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перерегулирование менее 5%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AutoNum type="arabicParenR"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татическая ошибка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менее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5%.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71769" y="6429600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20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647" name="TextBox 3"/>
          <p:cNvSpPr txBox="1"/>
          <p:nvPr/>
        </p:nvSpPr>
        <p:spPr>
          <a:xfrm>
            <a:off x="457200" y="171437"/>
            <a:ext cx="1131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1048648" name="object 3"/>
          <p:cNvSpPr txBox="1"/>
          <p:nvPr/>
        </p:nvSpPr>
        <p:spPr>
          <a:xfrm>
            <a:off x="457200" y="808508"/>
            <a:ext cx="10893972" cy="333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2438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выполнении ВКР достигнуты следующие ключевые результаты</a:t>
            </a:r>
            <a: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специализированный контроллер для САУ гибридной силовой установкой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Синтезированы ПИ-регуляторы токов для САУ моментом. Перерегулирование 0%, статическая ошибка 1,1% .</a:t>
            </a:r>
          </a:p>
          <a:p>
            <a:pPr marL="342900" lvl="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Синтезирован П-регулятор скорости вращения электродвигателя. Перерегулирование и статическая ошибка составили 0% 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4400" lvl="1" indent="28440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ru-RU" sz="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8358" lvl="1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82E05E37-CA79-18AF-CF9A-EE8800D3BA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4129193"/>
              </p:ext>
            </p:extLst>
          </p:nvPr>
        </p:nvGraphicFramePr>
        <p:xfrm>
          <a:off x="2474388" y="3429000"/>
          <a:ext cx="7473976" cy="29290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Рисунок 2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3196587" y="601177"/>
            <a:ext cx="5437961" cy="5096447"/>
          </a:xfrm>
          <a:prstGeom prst="rect">
            <a:avLst/>
          </a:prstGeom>
        </p:spPr>
      </p:pic>
      <p:sp>
        <p:nvSpPr>
          <p:cNvPr id="1048649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71769" y="6429600"/>
            <a:ext cx="1312025" cy="365125"/>
          </a:xfrm>
        </p:spPr>
        <p:txBody>
          <a:bodyPr/>
          <a:lstStyle/>
          <a:p>
            <a:fld id="{CA629879-48EE-4942-B670-D8F027CC502A}" type="slidenum">
              <a:rPr lang="ru-RU" sz="20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1048650" name="TextBox 3"/>
          <p:cNvSpPr txBox="1"/>
          <p:nvPr/>
        </p:nvSpPr>
        <p:spPr>
          <a:xfrm>
            <a:off x="0" y="268773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Ретро">
  <a:themeElements>
    <a:clrScheme name="Другая 1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E6B5C"/>
      </a:accent1>
      <a:accent2>
        <a:srgbClr val="742117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591</Words>
  <Application>Microsoft Office PowerPoint</Application>
  <PresentationFormat>Широкоэкранный</PresentationFormat>
  <Paragraphs>125</Paragraphs>
  <Slides>15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Calibri</vt:lpstr>
      <vt:lpstr>Calibri Light</vt:lpstr>
      <vt:lpstr>Cambria Math</vt:lpstr>
      <vt:lpstr>Times New Roman</vt:lpstr>
      <vt:lpstr>Wingdings</vt:lpstr>
      <vt:lpstr>Ретро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Степан Болтенков</cp:lastModifiedBy>
  <cp:revision>21</cp:revision>
  <dcterms:created xsi:type="dcterms:W3CDTF">2022-11-22T10:55:56Z</dcterms:created>
  <dcterms:modified xsi:type="dcterms:W3CDTF">2025-06-17T20:38:25Z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bbb8034423ba42499bf0e69ceb9b3947</vt:lpwstr>
  </property>
</Properties>
</file>